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6" r:id="rId4"/>
    <p:sldId id="259" r:id="rId5"/>
    <p:sldId id="268" r:id="rId6"/>
    <p:sldId id="261" r:id="rId7"/>
    <p:sldId id="262" r:id="rId8"/>
    <p:sldId id="269" r:id="rId9"/>
    <p:sldId id="270" r:id="rId10"/>
    <p:sldId id="271" r:id="rId11"/>
    <p:sldId id="272" r:id="rId12"/>
    <p:sldId id="273" r:id="rId13"/>
    <p:sldId id="264" r:id="rId14"/>
    <p:sldId id="263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F3F32B"/>
    <a:srgbClr val="000000"/>
    <a:srgbClr val="F5EB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577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76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68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70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894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90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800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JPG"/><Relationship Id="rId11" Type="http://schemas.openxmlformats.org/officeDocument/2006/relationships/image" Target="../media/image32.JPG"/><Relationship Id="rId5" Type="http://schemas.openxmlformats.org/officeDocument/2006/relationships/image" Target="../media/image26.JPG"/><Relationship Id="rId10" Type="http://schemas.openxmlformats.org/officeDocument/2006/relationships/image" Target="../media/image31.JPG"/><Relationship Id="rId4" Type="http://schemas.openxmlformats.org/officeDocument/2006/relationships/image" Target="../media/image25.JPG"/><Relationship Id="rId9" Type="http://schemas.openxmlformats.org/officeDocument/2006/relationships/image" Target="../media/image3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" y="1891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38655"/>
            <a:ext cx="5588511" cy="187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7100"/>
              </a:lnSpc>
              <a:buNone/>
            </a:pPr>
            <a:r>
              <a:rPr lang="en-US" sz="7254" b="1" kern="0" spc="-3" dirty="0">
                <a:solidFill>
                  <a:srgbClr val="FFFFFF"/>
                </a:solidFill>
                <a:latin typeface="Segoe UI" panose="020B0502040204020203" pitchFamily="34" charset="0"/>
                <a:ea typeface="Kozuka Gothic Pro B" panose="020B0800000000000000" pitchFamily="34" charset="-128"/>
                <a:cs typeface="Segoe UI" panose="020B0502040204020203" pitchFamily="34" charset="0"/>
              </a:rPr>
              <a:t>GENTLE
MONSTER</a:t>
            </a:r>
            <a:endParaRPr lang="en-US" sz="7254" dirty="0">
              <a:latin typeface="Segoe UI" panose="020B0502040204020203" pitchFamily="34" charset="0"/>
              <a:ea typeface="Kozuka Gothic Pro B" panose="020B08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4344" y="2410318"/>
            <a:ext cx="7948394" cy="9105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100"/>
              </a:lnSpc>
              <a:buNone/>
            </a:pPr>
            <a:r>
              <a:rPr lang="en-US" sz="7254" b="1" kern="0" spc="-3" dirty="0" smtClean="0">
                <a:solidFill>
                  <a:srgbClr val="4A4A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Official Site Clone</a:t>
            </a:r>
            <a:endParaRPr lang="en-US" sz="7254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8624" y="3596180"/>
            <a:ext cx="4073037" cy="46115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ko-KR" altLang="en-US" sz="1200" dirty="0" err="1" smtClean="0">
                <a:solidFill>
                  <a:schemeClr val="bg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맑은 고딕 Semilight" panose="020B0502040204020203" pitchFamily="50" charset="-127"/>
              </a:rPr>
              <a:t>젠틀몬스터의</a:t>
            </a:r>
            <a:r>
              <a:rPr lang="ko-KR" altLang="en-US" sz="1200" dirty="0" smtClean="0">
                <a:solidFill>
                  <a:schemeClr val="bg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맑은 고딕 Semilight" panose="020B0502040204020203" pitchFamily="50" charset="-127"/>
              </a:rPr>
              <a:t> 예술적 </a:t>
            </a:r>
            <a:r>
              <a:rPr lang="en-US" altLang="ko-KR" sz="1200" dirty="0" smtClean="0">
                <a:solidFill>
                  <a:schemeClr val="bg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맑은 고딕 Semilight" panose="020B0502040204020203" pitchFamily="50" charset="-127"/>
              </a:rPr>
              <a:t>UI</a:t>
            </a:r>
            <a:r>
              <a:rPr lang="ko-KR" altLang="en-US" sz="1200" dirty="0" smtClean="0">
                <a:solidFill>
                  <a:schemeClr val="bg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맑은 고딕 Semilight" panose="020B0502040204020203" pitchFamily="50" charset="-127"/>
              </a:rPr>
              <a:t>를 재현하는</a:t>
            </a:r>
            <a:endParaRPr lang="en-US" altLang="ko-KR" sz="1200" dirty="0" smtClean="0">
              <a:solidFill>
                <a:schemeClr val="bg2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ts val="1900"/>
              </a:lnSpc>
            </a:pPr>
            <a:r>
              <a:rPr lang="ko-KR" altLang="en-US" sz="1200" dirty="0" smtClean="0">
                <a:solidFill>
                  <a:schemeClr val="bg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맑은 고딕 Semilight" panose="020B0502040204020203" pitchFamily="50" charset="-127"/>
              </a:rPr>
              <a:t>디지털 </a:t>
            </a:r>
            <a:r>
              <a:rPr lang="ko-KR" altLang="en-US" sz="1200" dirty="0" err="1" smtClean="0">
                <a:solidFill>
                  <a:schemeClr val="bg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맑은 고딕 Semilight" panose="020B0502040204020203" pitchFamily="50" charset="-127"/>
              </a:rPr>
              <a:t>플래그십</a:t>
            </a:r>
            <a:r>
              <a:rPr lang="ko-KR" altLang="en-US" sz="1200" dirty="0" smtClean="0">
                <a:solidFill>
                  <a:schemeClr val="bg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맑은 고딕 Semilight" panose="020B0502040204020203" pitchFamily="50" charset="-127"/>
              </a:rPr>
              <a:t> 클론 프로젝트</a:t>
            </a:r>
            <a:endParaRPr lang="en-US" sz="1200" dirty="0">
              <a:solidFill>
                <a:schemeClr val="bg2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-567558" y="4743768"/>
            <a:ext cx="8286750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4186238"/>
            <a:ext cx="828675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4479131"/>
            <a:ext cx="1210866" cy="235744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Frontend Engineering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1561301" y="4479132"/>
            <a:ext cx="585006" cy="235744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React 19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2272432" y="4473835"/>
            <a:ext cx="628424" cy="239809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TypeScript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7373020" y="4336256"/>
            <a:ext cx="13423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Kim Seung-min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7373020" y="4543425"/>
            <a:ext cx="13423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2026.01.12 — 2026.02.12</a:t>
            </a:r>
            <a:endParaRPr lang="en-US" sz="834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314575" y="598548"/>
            <a:ext cx="8286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171575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571500"/>
            <a:ext cx="3712555" cy="461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dirty="0" smtClean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Project Overview</a:t>
            </a:r>
            <a:endParaRPr lang="en-US" sz="3294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8304916" y="835819"/>
            <a:ext cx="65" cy="1742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47809" y="1361691"/>
            <a:ext cx="1928813" cy="282641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/>
              <a:t>Development Period</a:t>
            </a:r>
            <a:endParaRPr lang="en-US" sz="1100" b="1" dirty="0"/>
          </a:p>
        </p:txBody>
      </p:sp>
      <p:sp>
        <p:nvSpPr>
          <p:cNvPr id="8" name="Text 5"/>
          <p:cNvSpPr/>
          <p:nvPr/>
        </p:nvSpPr>
        <p:spPr>
          <a:xfrm>
            <a:off x="428625" y="1971675"/>
            <a:ext cx="1043555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4</a:t>
            </a:r>
            <a:r>
              <a:rPr lang="en-US" sz="1602" b="1" dirty="0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Weeks</a:t>
            </a:r>
            <a:endParaRPr lang="en-US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660474" y="2353254"/>
            <a:ext cx="1041285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+mn-ea"/>
              </a:rPr>
              <a:t>2026.01.12</a:t>
            </a:r>
            <a:r>
              <a:rPr lang="en-US" sz="942" dirty="0">
                <a:solidFill>
                  <a:srgbClr val="333333"/>
                </a:solidFill>
              </a:rPr>
              <a:t>
</a:t>
            </a:r>
            <a:r>
              <a:rPr lang="en-US" sz="942" b="1" dirty="0" smtClean="0">
                <a:solidFill>
                  <a:schemeClr val="bg2"/>
                </a:solidFill>
                <a:latin typeface="+mn-ea"/>
              </a:rPr>
              <a:t>to</a:t>
            </a:r>
            <a:endParaRPr lang="en-US" sz="942" b="1" dirty="0">
              <a:solidFill>
                <a:schemeClr val="bg2"/>
              </a:solidFill>
              <a:latin typeface="+mn-ea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200" b="1" dirty="0" smtClean="0">
                <a:solidFill>
                  <a:srgbClr val="333333"/>
                </a:solidFill>
                <a:latin typeface="+mn-ea"/>
              </a:rPr>
              <a:t>2026.02.12</a:t>
            </a:r>
            <a:endParaRPr lang="en-US" sz="1200" b="1" dirty="0">
              <a:latin typeface="+mn-ea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643187" y="1361690"/>
            <a:ext cx="1928813" cy="282641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/>
              <a:t>Team Composition</a:t>
            </a:r>
            <a:endParaRPr lang="en-US" sz="1100" b="1" dirty="0"/>
          </a:p>
        </p:txBody>
      </p:sp>
      <p:sp>
        <p:nvSpPr>
          <p:cNvPr id="11" name="Text 8"/>
          <p:cNvSpPr/>
          <p:nvPr/>
        </p:nvSpPr>
        <p:spPr>
          <a:xfrm>
            <a:off x="2643188" y="1964410"/>
            <a:ext cx="1410643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Solo</a:t>
            </a:r>
            <a:r>
              <a:rPr lang="en-US" sz="1602" b="1" dirty="0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Project</a:t>
            </a:r>
            <a:endParaRPr lang="en-US" sz="1602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43188" y="2353254"/>
            <a:ext cx="19288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333333"/>
                </a:solidFill>
              </a:rPr>
              <a:t>Kim Seung-min</a:t>
            </a:r>
            <a:r>
              <a:rPr lang="en-US" sz="942" dirty="0">
                <a:solidFill>
                  <a:srgbClr val="333333"/>
                </a:solidFill>
              </a:rPr>
              <a:t>
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857750" y="1600200"/>
            <a:ext cx="3857625" cy="26431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kern="0" spc="1" dirty="0">
                <a:solidFill>
                  <a:srgbClr val="666666"/>
                </a:solidFill>
              </a:rPr>
              <a:t>Project Scope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4857750" y="1969199"/>
            <a:ext cx="3857625" cy="26003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5072063" y="2185988"/>
            <a:ext cx="2598468" cy="327269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젠틀몬스터 공식 웹사이트 클론</a:t>
            </a:r>
            <a:endParaRPr lang="en-US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82161" y="2538962"/>
            <a:ext cx="342900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ko-KR" sz="1050" dirty="0" err="1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글로벌</a:t>
            </a:r>
            <a:r>
              <a:rPr lang="en-US" altLang="ko-KR" sz="1050" dirty="0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050" dirty="0" err="1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아이웨어</a:t>
            </a:r>
            <a:r>
              <a:rPr lang="en-US" altLang="ko-KR" sz="1050" dirty="0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050" dirty="0" err="1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브랜드</a:t>
            </a:r>
            <a:r>
              <a:rPr lang="en-US" altLang="ko-KR" sz="1050" dirty="0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050" dirty="0" err="1" smtClean="0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젠틀몬스터의</a:t>
            </a:r>
            <a:r>
              <a:rPr lang="en-US" altLang="ko-KR" sz="1050" dirty="0" smtClean="0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050" dirty="0" err="1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공식</a:t>
            </a:r>
            <a:r>
              <a:rPr lang="en-US" altLang="ko-KR" sz="1050" dirty="0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050" dirty="0" err="1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웹사이트를</a:t>
            </a:r>
            <a:r>
              <a:rPr lang="en-US" altLang="ko-KR" sz="1050" dirty="0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050" dirty="0" err="1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클론</a:t>
            </a:r>
            <a:r>
              <a:rPr lang="en-US" altLang="ko-KR" sz="1050" dirty="0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050" dirty="0" err="1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코딩하여</a:t>
            </a:r>
            <a:r>
              <a:rPr lang="en-US" altLang="ko-KR" sz="1050" dirty="0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050" dirty="0" err="1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그들의</a:t>
            </a:r>
            <a:r>
              <a:rPr lang="en-US" altLang="ko-KR" sz="1050" dirty="0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050" dirty="0" err="1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독창적인</a:t>
            </a:r>
            <a:r>
              <a:rPr lang="en-US" altLang="ko-KR" sz="1050" dirty="0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UI/</a:t>
            </a:r>
            <a:r>
              <a:rPr lang="en-US" altLang="ko-KR" sz="1050" dirty="0" err="1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UX와</a:t>
            </a:r>
            <a:r>
              <a:rPr lang="en-US" altLang="ko-KR" sz="1050" dirty="0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050" dirty="0" err="1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핵심</a:t>
            </a:r>
            <a:r>
              <a:rPr lang="en-US" altLang="ko-KR" sz="1050" dirty="0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050" dirty="0" err="1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기능을</a:t>
            </a:r>
            <a:r>
              <a:rPr lang="en-US" altLang="ko-KR" sz="1050" dirty="0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050" dirty="0" err="1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재현하는</a:t>
            </a:r>
            <a:r>
              <a:rPr lang="en-US" altLang="ko-KR" sz="1050" dirty="0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데 </a:t>
            </a:r>
            <a:r>
              <a:rPr lang="en-US" altLang="ko-KR" sz="1050" dirty="0" err="1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초점을</a:t>
            </a:r>
            <a:r>
              <a:rPr lang="en-US" altLang="ko-KR" sz="1050" dirty="0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050" dirty="0" err="1">
                <a:solidFill>
                  <a:srgbClr val="3C393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맞추었습니다</a:t>
            </a:r>
            <a:r>
              <a:rPr lang="en-US" sz="1050" dirty="0" smtClean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.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447809" y="2353254"/>
            <a:ext cx="0" cy="577081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2490722" y="1503010"/>
            <a:ext cx="6394" cy="2993923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4429633" y="1503010"/>
            <a:ext cx="6394" cy="2993924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643188" y="2631295"/>
            <a:ext cx="570519" cy="215444"/>
          </a:xfrm>
          <a:prstGeom prst="rect">
            <a:avLst/>
          </a:prstGeom>
          <a:solidFill>
            <a:srgbClr val="F5EBED"/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accent3"/>
                </a:solidFill>
              </a:rPr>
              <a:t>P</a:t>
            </a:r>
            <a:r>
              <a:rPr lang="en-US" altLang="ko-KR" sz="800" dirty="0" smtClean="0">
                <a:solidFill>
                  <a:schemeClr val="accent3"/>
                </a:solidFill>
              </a:rPr>
              <a:t>lanning</a:t>
            </a:r>
            <a:endParaRPr lang="ko-KR" altLang="en-US" sz="800" dirty="0">
              <a:solidFill>
                <a:schemeClr val="accent3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70722" y="2631295"/>
            <a:ext cx="473950" cy="215444"/>
          </a:xfrm>
          <a:prstGeom prst="rect">
            <a:avLst/>
          </a:prstGeom>
          <a:solidFill>
            <a:srgbClr val="F5EBED"/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accent3"/>
                </a:solidFill>
              </a:rPr>
              <a:t>Design</a:t>
            </a:r>
            <a:endParaRPr lang="ko-KR" altLang="en-US" sz="800" dirty="0">
              <a:solidFill>
                <a:schemeClr val="accent3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643188" y="2894123"/>
            <a:ext cx="771957" cy="215444"/>
          </a:xfrm>
          <a:prstGeom prst="rect">
            <a:avLst/>
          </a:prstGeom>
          <a:solidFill>
            <a:srgbClr val="F5EBED"/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accent3"/>
                </a:solidFill>
              </a:rPr>
              <a:t>Development</a:t>
            </a:r>
            <a:endParaRPr lang="ko-KR" altLang="en-US" sz="8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636041" y="1563675"/>
            <a:ext cx="4291398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81"/>
              </a:lnSpc>
            </a:pPr>
            <a:r>
              <a:rPr lang="en-US" b="1" dirty="0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Inter Bold" pitchFamily="34" charset="-120"/>
              </a:rPr>
              <a:t>예술과 상업의 경계를 허무는 젠틀몬스터</a:t>
            </a:r>
            <a:endParaRPr 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925" y="1466307"/>
            <a:ext cx="2694500" cy="3368125"/>
          </a:xfrm>
          <a:prstGeom prst="rect">
            <a:avLst/>
          </a:prstGeom>
          <a:effectLst/>
        </p:spPr>
      </p:pic>
      <p:sp>
        <p:nvSpPr>
          <p:cNvPr id="5" name="Shape 0"/>
          <p:cNvSpPr/>
          <p:nvPr/>
        </p:nvSpPr>
        <p:spPr>
          <a:xfrm>
            <a:off x="401762" y="-126355"/>
            <a:ext cx="8286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Shape 0"/>
          <p:cNvSpPr/>
          <p:nvPr/>
        </p:nvSpPr>
        <p:spPr>
          <a:xfrm>
            <a:off x="428625" y="573338"/>
            <a:ext cx="8286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Shape 1"/>
          <p:cNvSpPr/>
          <p:nvPr/>
        </p:nvSpPr>
        <p:spPr>
          <a:xfrm>
            <a:off x="428625" y="1173413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2"/>
          <p:cNvSpPr/>
          <p:nvPr/>
        </p:nvSpPr>
        <p:spPr>
          <a:xfrm>
            <a:off x="428625" y="573338"/>
            <a:ext cx="3914533" cy="461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dirty="0" smtClean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GENTLE MONSTER</a:t>
            </a:r>
            <a:endParaRPr lang="en-US" sz="3294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Text 3"/>
          <p:cNvSpPr/>
          <p:nvPr/>
        </p:nvSpPr>
        <p:spPr>
          <a:xfrm>
            <a:off x="8304916" y="837657"/>
            <a:ext cx="65" cy="1742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885" dirty="0"/>
          </a:p>
        </p:txBody>
      </p:sp>
      <p:sp>
        <p:nvSpPr>
          <p:cNvPr id="13" name="Text 4"/>
          <p:cNvSpPr/>
          <p:nvPr/>
        </p:nvSpPr>
        <p:spPr>
          <a:xfrm>
            <a:off x="636041" y="2416602"/>
            <a:ext cx="4768378" cy="1410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59" dirty="0">
                <a:solidFill>
                  <a:srgbClr val="1A1A1A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젠틀몬스터는 단순한 아이웨어를 넘어, '예술'과 '상업'의 경계를 허무는 독창적인 비주얼 스토리텔링으로 전 세계적인 팬덤을 형성하고 있는 </a:t>
            </a:r>
            <a:r>
              <a:rPr lang="en-US" sz="1159" dirty="0" err="1">
                <a:solidFill>
                  <a:srgbClr val="1A1A1A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브랜드입니다</a:t>
            </a:r>
            <a:r>
              <a:rPr lang="en-US" sz="1159" dirty="0" smtClean="0">
                <a:solidFill>
                  <a:srgbClr val="1A1A1A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 algn="l">
              <a:lnSpc>
                <a:spcPts val="2200"/>
              </a:lnSpc>
              <a:buNone/>
            </a:pPr>
            <a:endParaRPr lang="en-US" sz="1159" dirty="0">
              <a:solidFill>
                <a:srgbClr val="1A1A1A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 algn="l">
              <a:lnSpc>
                <a:spcPts val="2200"/>
              </a:lnSpc>
              <a:buNone/>
            </a:pPr>
            <a:endParaRPr lang="en-US" sz="1159" dirty="0" smtClean="0">
              <a:solidFill>
                <a:srgbClr val="1A1A1A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 algn="l">
              <a:lnSpc>
                <a:spcPts val="2200"/>
              </a:lnSpc>
              <a:buNone/>
            </a:pPr>
            <a:endParaRPr lang="en-US" sz="1159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14" name="Text 5"/>
          <p:cNvSpPr/>
          <p:nvPr/>
        </p:nvSpPr>
        <p:spPr>
          <a:xfrm>
            <a:off x="636041" y="3236009"/>
            <a:ext cx="4465680" cy="387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 err="1" smtClean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독특한</a:t>
            </a:r>
            <a:r>
              <a:rPr lang="en-US" sz="885" b="1" dirty="0" smtClean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85" b="1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공간 디자인과 파격적인 캠페인으로 매번 새로운 경험을 선사하며, 패션과 문화 전반에 걸쳐 강력한 영향력을 발휘하고 있습니다.</a:t>
            </a:r>
            <a:endParaRPr lang="en-US" sz="885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598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2215595" cy="48577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1"/>
          <p:cNvSpPr/>
          <p:nvPr/>
        </p:nvSpPr>
        <p:spPr>
          <a:xfrm>
            <a:off x="375508" y="571500"/>
            <a:ext cx="1832944" cy="820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700" b="1" kern="0" spc="-2" dirty="0" smtClean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DESIGN
STRATEGY</a:t>
            </a:r>
            <a:endParaRPr lang="en-US" sz="27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29920" y="314325"/>
            <a:ext cx="503151" cy="1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kern="0" spc="1" dirty="0" smtClean="0">
                <a:solidFill>
                  <a:srgbClr val="888888"/>
                </a:solidFill>
              </a:rPr>
              <a:t>STRATEGY 01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2529920" y="650081"/>
            <a:ext cx="65" cy="872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6800"/>
              </a:lnSpc>
              <a:buNone/>
            </a:pPr>
            <a:endParaRPr lang="en-US" sz="6218" dirty="0"/>
          </a:p>
        </p:txBody>
      </p:sp>
      <p:sp>
        <p:nvSpPr>
          <p:cNvPr id="8" name="Text 5"/>
          <p:cNvSpPr/>
          <p:nvPr/>
        </p:nvSpPr>
        <p:spPr>
          <a:xfrm>
            <a:off x="2529920" y="1564481"/>
            <a:ext cx="2971270" cy="16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851234" y="314325"/>
            <a:ext cx="503151" cy="1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kern="0" spc="1" dirty="0" smtClean="0">
                <a:solidFill>
                  <a:srgbClr val="888888"/>
                </a:solidFill>
              </a:rPr>
              <a:t>STRATEGY 02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5926909" y="571499"/>
            <a:ext cx="2971298" cy="187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 smtClean="0">
                <a:solidFill>
                  <a:srgbClr val="0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COLOR Palette</a:t>
            </a:r>
            <a:endParaRPr lang="en-US" sz="987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851234" y="1821656"/>
            <a:ext cx="739267" cy="571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5851234" y="1821656"/>
            <a:ext cx="739267" cy="57150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#000000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6590500" y="1821656"/>
            <a:ext cx="739267" cy="571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/>
          <p:nvPr/>
        </p:nvSpPr>
        <p:spPr>
          <a:xfrm>
            <a:off x="6590500" y="1821656"/>
            <a:ext cx="739267" cy="25468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#</a:t>
            </a:r>
            <a:r>
              <a:rPr lang="en-US" sz="621" dirty="0" smtClean="0">
                <a:solidFill>
                  <a:srgbClr val="FFFFFF"/>
                </a:solidFill>
              </a:rPr>
              <a:t>111111</a:t>
            </a:r>
            <a:endParaRPr lang="en-US" sz="621" dirty="0"/>
          </a:p>
        </p:txBody>
      </p:sp>
      <p:sp>
        <p:nvSpPr>
          <p:cNvPr id="16" name="Shape 13"/>
          <p:cNvSpPr/>
          <p:nvPr/>
        </p:nvSpPr>
        <p:spPr>
          <a:xfrm>
            <a:off x="7329767" y="1821656"/>
            <a:ext cx="739267" cy="5715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7" name="Text 14"/>
          <p:cNvSpPr/>
          <p:nvPr/>
        </p:nvSpPr>
        <p:spPr>
          <a:xfrm>
            <a:off x="7329767" y="1821656"/>
            <a:ext cx="739267" cy="25468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>
              <a:lnSpc>
                <a:spcPts val="1000"/>
              </a:lnSpc>
            </a:pPr>
            <a:r>
              <a:rPr lang="en-US" sz="621" dirty="0" smtClean="0"/>
              <a:t>#</a:t>
            </a:r>
            <a:r>
              <a:rPr lang="en-US" sz="621" dirty="0" smtClean="0"/>
              <a:t>f2f3f5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8069033" y="1821656"/>
            <a:ext cx="753554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69033" y="1821656"/>
            <a:ext cx="753554" cy="57150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#FFFFFF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2529920" y="2743200"/>
            <a:ext cx="503151" cy="1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ko-KR" sz="727" kern="0" spc="1" dirty="0">
                <a:solidFill>
                  <a:srgbClr val="888888"/>
                </a:solidFill>
              </a:rPr>
              <a:t>STRATEGY </a:t>
            </a:r>
            <a:r>
              <a:rPr lang="en-US" altLang="ko-KR" sz="727" kern="0" spc="1" dirty="0" smtClean="0">
                <a:solidFill>
                  <a:srgbClr val="888888"/>
                </a:solidFill>
              </a:rPr>
              <a:t>03</a:t>
            </a:r>
            <a:endParaRPr lang="en-US" altLang="ko-KR" sz="727" dirty="0"/>
          </a:p>
        </p:txBody>
      </p:sp>
      <p:sp>
        <p:nvSpPr>
          <p:cNvPr id="21" name="Text 18"/>
          <p:cNvSpPr/>
          <p:nvPr/>
        </p:nvSpPr>
        <p:spPr>
          <a:xfrm>
            <a:off x="2529920" y="2978944"/>
            <a:ext cx="2971270" cy="184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 smtClean="0">
                <a:solidFill>
                  <a:srgbClr val="0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Minimalism Layout</a:t>
            </a:r>
            <a:endParaRPr lang="en-US" sz="987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532173" y="3378993"/>
            <a:ext cx="1942312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텍스트를</a:t>
            </a:r>
            <a:r>
              <a:rPr lang="en-US" sz="83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0" dirty="0" err="1" smtClean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최소화하고</a:t>
            </a:r>
            <a:r>
              <a:rPr lang="en-US" sz="83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0" dirty="0" err="1" smtClean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대담한</a:t>
            </a:r>
            <a:r>
              <a:rPr lang="en-US" sz="830" dirty="0" smtClean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레이아웃 사용</a:t>
            </a:r>
          </a:p>
        </p:txBody>
      </p:sp>
      <p:sp>
        <p:nvSpPr>
          <p:cNvPr id="23" name="Text 20"/>
          <p:cNvSpPr/>
          <p:nvPr/>
        </p:nvSpPr>
        <p:spPr>
          <a:xfrm>
            <a:off x="5851234" y="2743200"/>
            <a:ext cx="503151" cy="1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ko-KR" sz="727" kern="0" spc="1" dirty="0">
                <a:solidFill>
                  <a:srgbClr val="888888"/>
                </a:solidFill>
              </a:rPr>
              <a:t>STRATEGY </a:t>
            </a:r>
            <a:r>
              <a:rPr lang="en-US" altLang="ko-KR" sz="727" kern="0" spc="1" dirty="0" smtClean="0">
                <a:solidFill>
                  <a:srgbClr val="888888"/>
                </a:solidFill>
              </a:rPr>
              <a:t>04</a:t>
            </a:r>
            <a:endParaRPr lang="en-US" altLang="ko-KR" sz="727" dirty="0"/>
          </a:p>
        </p:txBody>
      </p:sp>
      <p:sp>
        <p:nvSpPr>
          <p:cNvPr id="24" name="Text 21"/>
          <p:cNvSpPr/>
          <p:nvPr/>
        </p:nvSpPr>
        <p:spPr>
          <a:xfrm>
            <a:off x="5851234" y="2978944"/>
            <a:ext cx="2971298" cy="184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Full </a:t>
            </a:r>
            <a:r>
              <a:rPr lang="en-US" sz="987" b="1" dirty="0" smtClean="0">
                <a:solidFill>
                  <a:srgbClr val="0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Screen Media</a:t>
            </a:r>
            <a:endParaRPr lang="en-US" sz="987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851234" y="4043363"/>
            <a:ext cx="2971298" cy="571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5851234" y="4043363"/>
            <a:ext cx="29712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[ VIDEO / IMAGE AREA ]</a:t>
            </a:r>
            <a:endParaRPr lang="en-US" sz="621" dirty="0"/>
          </a:p>
        </p:txBody>
      </p:sp>
      <p:sp>
        <p:nvSpPr>
          <p:cNvPr id="29" name="Text 8"/>
          <p:cNvSpPr/>
          <p:nvPr/>
        </p:nvSpPr>
        <p:spPr>
          <a:xfrm>
            <a:off x="2574053" y="571500"/>
            <a:ext cx="2971298" cy="187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 smtClean="0">
                <a:solidFill>
                  <a:srgbClr val="0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Visual Identity</a:t>
            </a:r>
            <a:endParaRPr lang="en-US" sz="987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851234" y="910423"/>
            <a:ext cx="2512680" cy="347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3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무채색</a:t>
            </a:r>
            <a:r>
              <a:rPr lang="en-US" altLang="ko-KR" sz="83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(Black, White, Gray)</a:t>
            </a:r>
            <a:r>
              <a:rPr lang="ko-KR" altLang="en-US" sz="83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기본으로 하여 제품의 </a:t>
            </a:r>
            <a:r>
              <a:rPr lang="ko-KR" altLang="en-US" sz="83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컬러감과</a:t>
            </a:r>
            <a:r>
              <a:rPr lang="ko-KR" altLang="en-US" sz="83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캠페인의 몰입도 극대화</a:t>
            </a:r>
          </a:p>
        </p:txBody>
      </p:sp>
      <p:sp>
        <p:nvSpPr>
          <p:cNvPr id="31" name="Text 19"/>
          <p:cNvSpPr/>
          <p:nvPr/>
        </p:nvSpPr>
        <p:spPr>
          <a:xfrm>
            <a:off x="5851234" y="3378993"/>
            <a:ext cx="2280644" cy="296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ko-KR" altLang="en-US" sz="830" dirty="0" smtClean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화면을 가득 채우는 캠페인 영상</a:t>
            </a:r>
            <a:r>
              <a:rPr lang="en-US" altLang="ko-KR" sz="830" dirty="0" smtClean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/</a:t>
            </a:r>
            <a:r>
              <a:rPr lang="ko-KR" altLang="en-US" sz="830" dirty="0" smtClean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이미지를 통해 압도적인 브랜드 </a:t>
            </a:r>
            <a:r>
              <a:rPr lang="ko-KR" altLang="en-US" sz="830" dirty="0" err="1" smtClean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몰입감</a:t>
            </a:r>
            <a:r>
              <a:rPr lang="ko-KR" altLang="en-US" sz="830" dirty="0" smtClean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선사</a:t>
            </a:r>
            <a:endParaRPr lang="en-US" sz="83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2" name="Text 4"/>
          <p:cNvSpPr/>
          <p:nvPr/>
        </p:nvSpPr>
        <p:spPr>
          <a:xfrm>
            <a:off x="2565683" y="981869"/>
            <a:ext cx="1808187" cy="3397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젠틀몬스터 </a:t>
            </a:r>
            <a:r>
              <a:rPr lang="en-US" sz="834" dirty="0" err="1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공식웹사이트의</a:t>
            </a:r>
            <a:r>
              <a:rPr lang="en-US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4" dirty="0" err="1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아이덴티티는</a:t>
            </a:r>
            <a:endParaRPr lang="en-US" sz="834" dirty="0" smtClean="0">
              <a:solidFill>
                <a:srgbClr val="333333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834" dirty="0" err="1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여백과</a:t>
            </a:r>
            <a:r>
              <a:rPr lang="en-US" sz="834" dirty="0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절제된 미학을 지향합니다.</a:t>
            </a:r>
            <a:endParaRPr lang="en-US" sz="834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571500"/>
            <a:ext cx="1495602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 smtClean="0">
                <a:solidFill>
                  <a:srgbClr val="666666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User Experience &amp; Interface</a:t>
            </a:r>
            <a:endParaRPr lang="en-US" sz="942" dirty="0"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8625" y="800100"/>
            <a:ext cx="2728439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62" b="1" kern="0" spc="-2" dirty="0">
                <a:solidFill>
                  <a:srgbClr val="0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KEY FEATURES</a:t>
            </a:r>
            <a:endParaRPr lang="en-US" sz="2862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8397311" y="1050131"/>
            <a:ext cx="26289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 smtClean="0">
                <a:solidFill>
                  <a:srgbClr val="000000"/>
                </a:solidFill>
              </a:rPr>
              <a:t>01 </a:t>
            </a:r>
            <a:r>
              <a:rPr lang="en-US" sz="727" dirty="0">
                <a:solidFill>
                  <a:srgbClr val="000000"/>
                </a:solidFill>
              </a:rPr>
              <a:t>/ 02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428625" y="1343025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4829175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514350" y="1428750"/>
            <a:ext cx="11444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01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571017" y="1727783"/>
            <a:ext cx="1889363" cy="308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kern="0" spc="-1" dirty="0" smtClea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Main Hero Section</a:t>
            </a:r>
            <a:endParaRPr lang="en-US" sz="1602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1017" y="2273173"/>
            <a:ext cx="3971925" cy="161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ko-KR" altLang="en-US" sz="834" dirty="0" err="1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풀스크린</a:t>
            </a:r>
            <a:r>
              <a:rPr lang="ko-KR" altLang="en-US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캠페인 영상 배치 및 부드러운 페이드인 효과로 브랜드 첫인상 극대화</a:t>
            </a:r>
            <a:endParaRPr lang="en-US" sz="834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657725" y="1428750"/>
            <a:ext cx="11444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02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4695534" y="1727783"/>
            <a:ext cx="2345579" cy="308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US" sz="1602" b="1" kern="0" spc="-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Interactive Navigation</a:t>
            </a:r>
            <a:endParaRPr lang="en-US" sz="1602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14392" y="2273173"/>
            <a:ext cx="3964781" cy="34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ko-KR" altLang="en-US" sz="834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스크롤 방향과 위치에 따라 숨겨지거나 </a:t>
            </a:r>
            <a:r>
              <a:rPr lang="ko-KR" altLang="en-US" sz="834" dirty="0" smtClean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나타나는</a:t>
            </a:r>
            <a:endParaRPr lang="en-US" altLang="ko-KR" sz="834" dirty="0" smtClean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lnSpc>
                <a:spcPts val="1400"/>
              </a:lnSpc>
            </a:pPr>
            <a:r>
              <a:rPr lang="ko-KR" altLang="en-US" sz="834" dirty="0" err="1" smtClean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가변형</a:t>
            </a:r>
            <a:r>
              <a:rPr lang="ko-KR" altLang="en-US" sz="834" dirty="0" smtClean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834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Sticky Header </a:t>
            </a:r>
            <a:r>
              <a:rPr lang="ko-KR" altLang="en-US" sz="834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구현</a:t>
            </a:r>
            <a:endParaRPr lang="en-US" sz="834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14350" y="3186113"/>
            <a:ext cx="11444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03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571017" y="3429228"/>
            <a:ext cx="1905522" cy="308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US" sz="1602" b="1" kern="0" spc="-1" dirty="0" smtClea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Dynamic </a:t>
            </a:r>
            <a:r>
              <a:rPr lang="en-US" sz="1602" b="1" kern="0" spc="-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Category</a:t>
            </a:r>
            <a:endParaRPr lang="en-US" sz="1602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71017" y="3913166"/>
            <a:ext cx="3971925" cy="34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ko-KR" altLang="en-US" sz="834" dirty="0" err="1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백엔드</a:t>
            </a:r>
            <a:r>
              <a:rPr lang="ko-KR" altLang="en-US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API </a:t>
            </a:r>
            <a:r>
              <a:rPr lang="ko-KR" altLang="en-US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트리 구조 데이터를 </a:t>
            </a:r>
            <a:r>
              <a:rPr lang="ko-KR" altLang="en-US" sz="834" dirty="0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받아</a:t>
            </a:r>
            <a:endParaRPr lang="en-US" altLang="ko-KR" sz="834" dirty="0" smtClean="0">
              <a:solidFill>
                <a:srgbClr val="333333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lnSpc>
                <a:spcPts val="1400"/>
              </a:lnSpc>
            </a:pPr>
            <a:r>
              <a:rPr lang="ko-KR" altLang="en-US" sz="834" dirty="0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깊이 </a:t>
            </a:r>
            <a:r>
              <a:rPr lang="ko-KR" altLang="en-US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있는 서브 메뉴를 실시간 렌더링</a:t>
            </a:r>
            <a:endParaRPr lang="en-US" sz="834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71017" y="4543811"/>
            <a:ext cx="363497" cy="185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Inquiry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4657725" y="3186113"/>
            <a:ext cx="11444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04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4714392" y="3433457"/>
            <a:ext cx="1277786" cy="308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US" sz="1602" b="1" kern="0" spc="-1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Auth</a:t>
            </a:r>
            <a:r>
              <a:rPr lang="en-US" sz="1602" b="1" kern="0" spc="-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System</a:t>
            </a:r>
            <a:endParaRPr lang="en-US" sz="1602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714392" y="3913166"/>
            <a:ext cx="3964781" cy="34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34" dirty="0" smtClean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JWT </a:t>
            </a:r>
            <a:r>
              <a:rPr lang="ko-KR" altLang="en-US" sz="834" dirty="0" smtClean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기반 사용자 인증 </a:t>
            </a:r>
            <a:r>
              <a:rPr lang="ko-KR" altLang="en-US" sz="834" dirty="0" err="1" smtClean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로직을</a:t>
            </a:r>
            <a:r>
              <a:rPr lang="ko-KR" altLang="en-US" sz="834" dirty="0" smtClean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적용하여</a:t>
            </a:r>
            <a:endParaRPr lang="en-US" altLang="ko-KR" sz="834" dirty="0" smtClean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lnSpc>
                <a:spcPts val="1400"/>
              </a:lnSpc>
            </a:pPr>
            <a:r>
              <a:rPr lang="ko-KR" altLang="en-US" sz="834" dirty="0" smtClean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안전한 회원가입 및 로그인 기능 제공</a:t>
            </a:r>
            <a:endParaRPr lang="en-US" sz="834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657725" y="4586288"/>
            <a:ext cx="782017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Auth Integration</a:t>
            </a:r>
            <a:endParaRPr lang="en-US" sz="621" dirty="0"/>
          </a:p>
        </p:txBody>
      </p:sp>
      <p:sp>
        <p:nvSpPr>
          <p:cNvPr id="33" name="Text 23"/>
          <p:cNvSpPr/>
          <p:nvPr/>
        </p:nvSpPr>
        <p:spPr>
          <a:xfrm>
            <a:off x="571017" y="2943073"/>
            <a:ext cx="611432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Board CRUD</a:t>
            </a:r>
            <a:endParaRPr lang="en-US" sz="621" dirty="0"/>
          </a:p>
        </p:txBody>
      </p:sp>
      <p:sp>
        <p:nvSpPr>
          <p:cNvPr id="34" name="Shape 27"/>
          <p:cNvSpPr/>
          <p:nvPr/>
        </p:nvSpPr>
        <p:spPr>
          <a:xfrm>
            <a:off x="4676584" y="2839031"/>
            <a:ext cx="493718" cy="1857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28"/>
          <p:cNvSpPr/>
          <p:nvPr/>
        </p:nvSpPr>
        <p:spPr>
          <a:xfrm>
            <a:off x="4657725" y="2819590"/>
            <a:ext cx="512576" cy="185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Scroll Event</a:t>
            </a:r>
            <a:endParaRPr lang="en-US" sz="621" dirty="0"/>
          </a:p>
        </p:txBody>
      </p:sp>
      <p:sp>
        <p:nvSpPr>
          <p:cNvPr id="45" name="Shape 22"/>
          <p:cNvSpPr/>
          <p:nvPr/>
        </p:nvSpPr>
        <p:spPr>
          <a:xfrm>
            <a:off x="573220" y="2835728"/>
            <a:ext cx="611432" cy="1857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6" name="Text 23"/>
          <p:cNvSpPr/>
          <p:nvPr/>
        </p:nvSpPr>
        <p:spPr>
          <a:xfrm>
            <a:off x="573220" y="2822346"/>
            <a:ext cx="607154" cy="185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CSS Animation</a:t>
            </a:r>
            <a:endParaRPr lang="en-US" sz="621" dirty="0"/>
          </a:p>
        </p:txBody>
      </p:sp>
      <p:sp>
        <p:nvSpPr>
          <p:cNvPr id="47" name="Text 23"/>
          <p:cNvSpPr/>
          <p:nvPr/>
        </p:nvSpPr>
        <p:spPr>
          <a:xfrm>
            <a:off x="723417" y="3123393"/>
            <a:ext cx="611432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Board CRUD</a:t>
            </a:r>
            <a:endParaRPr lang="en-US" sz="621" dirty="0"/>
          </a:p>
        </p:txBody>
      </p:sp>
      <p:sp>
        <p:nvSpPr>
          <p:cNvPr id="50" name="Text 23"/>
          <p:cNvSpPr/>
          <p:nvPr/>
        </p:nvSpPr>
        <p:spPr>
          <a:xfrm>
            <a:off x="1334849" y="2943073"/>
            <a:ext cx="611432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Board CRUD</a:t>
            </a:r>
            <a:endParaRPr lang="en-US" sz="621" dirty="0"/>
          </a:p>
        </p:txBody>
      </p:sp>
      <p:sp>
        <p:nvSpPr>
          <p:cNvPr id="51" name="Shape 22"/>
          <p:cNvSpPr/>
          <p:nvPr/>
        </p:nvSpPr>
        <p:spPr>
          <a:xfrm>
            <a:off x="1337052" y="2835728"/>
            <a:ext cx="512688" cy="1857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2" name="Text 23"/>
          <p:cNvSpPr/>
          <p:nvPr/>
        </p:nvSpPr>
        <p:spPr>
          <a:xfrm>
            <a:off x="1374377" y="2819875"/>
            <a:ext cx="432426" cy="185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UX </a:t>
            </a:r>
            <a:r>
              <a:rPr lang="en-US" sz="621" dirty="0" err="1" smtClean="0">
                <a:solidFill>
                  <a:srgbClr val="FFFFFF"/>
                </a:solidFill>
              </a:rPr>
              <a:t>Foucs</a:t>
            </a:r>
            <a:endParaRPr lang="en-US" sz="621" dirty="0"/>
          </a:p>
        </p:txBody>
      </p:sp>
      <p:sp>
        <p:nvSpPr>
          <p:cNvPr id="53" name="Text 23"/>
          <p:cNvSpPr/>
          <p:nvPr/>
        </p:nvSpPr>
        <p:spPr>
          <a:xfrm>
            <a:off x="5361581" y="3009871"/>
            <a:ext cx="611432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Board CRUD</a:t>
            </a:r>
            <a:endParaRPr lang="en-US" sz="621" dirty="0"/>
          </a:p>
        </p:txBody>
      </p:sp>
      <p:sp>
        <p:nvSpPr>
          <p:cNvPr id="54" name="Shape 22"/>
          <p:cNvSpPr/>
          <p:nvPr/>
        </p:nvSpPr>
        <p:spPr>
          <a:xfrm>
            <a:off x="5325975" y="2832750"/>
            <a:ext cx="611432" cy="1857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5" name="Text 23"/>
          <p:cNvSpPr/>
          <p:nvPr/>
        </p:nvSpPr>
        <p:spPr>
          <a:xfrm>
            <a:off x="5333490" y="2816194"/>
            <a:ext cx="579902" cy="185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Sticky Header</a:t>
            </a:r>
            <a:endParaRPr lang="en-US" sz="621" dirty="0"/>
          </a:p>
        </p:txBody>
      </p:sp>
      <p:sp>
        <p:nvSpPr>
          <p:cNvPr id="56" name="Shape 22"/>
          <p:cNvSpPr/>
          <p:nvPr/>
        </p:nvSpPr>
        <p:spPr>
          <a:xfrm>
            <a:off x="6058277" y="2832750"/>
            <a:ext cx="584211" cy="1857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7" name="Text 23"/>
          <p:cNvSpPr/>
          <p:nvPr/>
        </p:nvSpPr>
        <p:spPr>
          <a:xfrm>
            <a:off x="6065792" y="2816194"/>
            <a:ext cx="576696" cy="185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Interactive UI</a:t>
            </a:r>
            <a:endParaRPr lang="en-US" sz="621" dirty="0"/>
          </a:p>
        </p:txBody>
      </p:sp>
      <p:sp>
        <p:nvSpPr>
          <p:cNvPr id="58" name="Shape 22"/>
          <p:cNvSpPr/>
          <p:nvPr/>
        </p:nvSpPr>
        <p:spPr>
          <a:xfrm>
            <a:off x="565705" y="4456491"/>
            <a:ext cx="611432" cy="1857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9" name="Text 23"/>
          <p:cNvSpPr/>
          <p:nvPr/>
        </p:nvSpPr>
        <p:spPr>
          <a:xfrm>
            <a:off x="566239" y="4439935"/>
            <a:ext cx="624786" cy="185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API Integration</a:t>
            </a:r>
            <a:endParaRPr lang="en-US" sz="621" dirty="0"/>
          </a:p>
        </p:txBody>
      </p:sp>
      <p:sp>
        <p:nvSpPr>
          <p:cNvPr id="60" name="Shape 22"/>
          <p:cNvSpPr/>
          <p:nvPr/>
        </p:nvSpPr>
        <p:spPr>
          <a:xfrm>
            <a:off x="1337258" y="4444488"/>
            <a:ext cx="469546" cy="1857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1" name="Text 23"/>
          <p:cNvSpPr/>
          <p:nvPr/>
        </p:nvSpPr>
        <p:spPr>
          <a:xfrm>
            <a:off x="1344772" y="4438137"/>
            <a:ext cx="454868" cy="185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Tree Data</a:t>
            </a:r>
            <a:endParaRPr lang="en-US" sz="621" dirty="0"/>
          </a:p>
        </p:txBody>
      </p:sp>
      <p:sp>
        <p:nvSpPr>
          <p:cNvPr id="62" name="Shape 22"/>
          <p:cNvSpPr/>
          <p:nvPr/>
        </p:nvSpPr>
        <p:spPr>
          <a:xfrm>
            <a:off x="4706877" y="4450868"/>
            <a:ext cx="460831" cy="1857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3" name="Text 23"/>
          <p:cNvSpPr/>
          <p:nvPr/>
        </p:nvSpPr>
        <p:spPr>
          <a:xfrm>
            <a:off x="4714392" y="4434312"/>
            <a:ext cx="446854" cy="185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JWT </a:t>
            </a:r>
            <a:r>
              <a:rPr lang="en-US" sz="621" dirty="0" err="1" smtClean="0">
                <a:solidFill>
                  <a:srgbClr val="FFFFFF"/>
                </a:solidFill>
              </a:rPr>
              <a:t>Auth</a:t>
            </a:r>
            <a:endParaRPr lang="en-US" sz="621" dirty="0"/>
          </a:p>
        </p:txBody>
      </p:sp>
      <p:sp>
        <p:nvSpPr>
          <p:cNvPr id="64" name="Shape 22"/>
          <p:cNvSpPr/>
          <p:nvPr/>
        </p:nvSpPr>
        <p:spPr>
          <a:xfrm>
            <a:off x="5363222" y="4454227"/>
            <a:ext cx="702834" cy="1857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5" name="Text 23"/>
          <p:cNvSpPr/>
          <p:nvPr/>
        </p:nvSpPr>
        <p:spPr>
          <a:xfrm>
            <a:off x="5370736" y="4437671"/>
            <a:ext cx="695319" cy="196977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React Hook Form</a:t>
            </a:r>
            <a:endParaRPr lang="en-US" sz="621" dirty="0"/>
          </a:p>
        </p:txBody>
      </p:sp>
    </p:spTree>
    <p:extLst>
      <p:ext uri="{BB962C8B-B14F-4D97-AF65-F5344CB8AC3E}">
        <p14:creationId xmlns:p14="http://schemas.microsoft.com/office/powerpoint/2010/main" val="49315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571500"/>
            <a:ext cx="1277594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ECOMMERCE &amp; SYSTEM</a:t>
            </a:r>
            <a:endParaRPr lang="en-US" sz="942" dirty="0"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8625" y="800100"/>
            <a:ext cx="2728439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62" b="1" kern="0" spc="-2" dirty="0">
                <a:solidFill>
                  <a:srgbClr val="0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KEY FEATURES</a:t>
            </a:r>
            <a:endParaRPr lang="en-US" sz="2862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8397311" y="1050131"/>
            <a:ext cx="31806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02 / 02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428625" y="1343025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4829175"/>
            <a:ext cx="82867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4592984" y="261652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14350" y="1428750"/>
            <a:ext cx="92974" cy="1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 smtClean="0">
                <a:solidFill>
                  <a:srgbClr val="888888"/>
                </a:solidFill>
              </a:rPr>
              <a:t>05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571017" y="1717881"/>
            <a:ext cx="1472839" cy="308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kern="0" spc="-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Wishlist &amp; Cart</a:t>
            </a:r>
            <a:endParaRPr lang="en-US" sz="1602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1017" y="2251539"/>
            <a:ext cx="3971925" cy="161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ko-KR" altLang="en-US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관심 상품 저장 및 장바구니 실시간 수량 변경</a:t>
            </a:r>
            <a:r>
              <a:rPr lang="en-US" altLang="ko-KR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총액 자동 계산 시스템</a:t>
            </a:r>
            <a:endParaRPr lang="en-US" sz="834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14350" y="2786881"/>
            <a:ext cx="951430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Zustand Global State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4657725" y="1428750"/>
            <a:ext cx="92974" cy="1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 smtClean="0">
                <a:solidFill>
                  <a:srgbClr val="888888"/>
                </a:solidFill>
              </a:rPr>
              <a:t>06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4700105" y="1719629"/>
            <a:ext cx="1386662" cy="308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kern="0" spc="-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Order System</a:t>
            </a:r>
            <a:endParaRPr lang="en-US" sz="1602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14945" y="2249111"/>
            <a:ext cx="3964781" cy="161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ko-KR" altLang="en-US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결제 시 장바구니 데이터 초기화 및 서버 동기화가 보장되는 안정적 주문 </a:t>
            </a:r>
            <a:r>
              <a:rPr lang="ko-KR" altLang="en-US" sz="834" dirty="0" err="1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로직</a:t>
            </a:r>
            <a:endParaRPr lang="en-US" sz="834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693479" y="2811405"/>
            <a:ext cx="971131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Data Synchronization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514350" y="3186113"/>
            <a:ext cx="92974" cy="1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 smtClean="0">
                <a:solidFill>
                  <a:srgbClr val="888888"/>
                </a:solidFill>
              </a:rPr>
              <a:t>07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571016" y="3379672"/>
            <a:ext cx="1530675" cy="308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kern="0" spc="-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Inquiry System</a:t>
            </a:r>
            <a:endParaRPr lang="en-US" sz="1602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71015" y="3847534"/>
            <a:ext cx="3971925" cy="34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ko-KR" altLang="en-US" sz="834" dirty="0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사용자가 </a:t>
            </a:r>
            <a:r>
              <a:rPr lang="en-US" sz="834" dirty="0" err="1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관리자에게</a:t>
            </a:r>
            <a:r>
              <a:rPr lang="en-US" sz="834" dirty="0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4" dirty="0" err="1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문의를</a:t>
            </a:r>
            <a:r>
              <a:rPr lang="en-US" sz="834" dirty="0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4" dirty="0" err="1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남기고</a:t>
            </a:r>
            <a:r>
              <a:rPr lang="en-US" sz="834" dirty="0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4" dirty="0" err="1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실시간으로</a:t>
            </a:r>
            <a:r>
              <a:rPr lang="en-US" sz="834" dirty="0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4" dirty="0" err="1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내역과</a:t>
            </a:r>
            <a:r>
              <a:rPr lang="en-US" sz="834" dirty="0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4" dirty="0" err="1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답변</a:t>
            </a:r>
            <a:r>
              <a:rPr lang="en-US" sz="834" dirty="0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4" dirty="0" err="1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상태를</a:t>
            </a:r>
            <a:r>
              <a:rPr lang="en-US" sz="834" dirty="0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834" dirty="0" err="1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확인할</a:t>
            </a:r>
            <a:r>
              <a:rPr lang="en-US" sz="834" dirty="0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수 </a:t>
            </a:r>
            <a:r>
              <a:rPr lang="en-US" sz="834" dirty="0" err="1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있는</a:t>
            </a:r>
            <a:r>
              <a:rPr lang="en-US" sz="834" dirty="0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834" dirty="0" smtClean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기능</a:t>
            </a:r>
            <a:endParaRPr lang="en-US" sz="834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71017" y="4564751"/>
            <a:ext cx="363497" cy="185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Inquiry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4657725" y="3186113"/>
            <a:ext cx="92974" cy="1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 smtClean="0">
                <a:solidFill>
                  <a:srgbClr val="888888"/>
                </a:solidFill>
              </a:rPr>
              <a:t>08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4700104" y="3423057"/>
            <a:ext cx="1453988" cy="308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kern="0" spc="-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Admin System</a:t>
            </a:r>
            <a:endParaRPr lang="en-US" sz="1602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750594" y="3852496"/>
            <a:ext cx="3964781" cy="161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34" dirty="0" err="1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Zustand</a:t>
            </a:r>
            <a:r>
              <a:rPr lang="en-US" altLang="ko-KR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전역 상태 관리 기반으로 상품</a:t>
            </a:r>
            <a:r>
              <a:rPr lang="en-US" altLang="ko-KR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주문</a:t>
            </a:r>
            <a:r>
              <a:rPr lang="en-US" altLang="ko-KR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sz="834" dirty="0">
                <a:solidFill>
                  <a:srgbClr val="333333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회원 데이터를 실시간 제어</a:t>
            </a:r>
            <a:endParaRPr lang="en-US" sz="834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514350" y="2875384"/>
            <a:ext cx="951430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Zustand Global State</a:t>
            </a:r>
            <a:endParaRPr lang="en-US" sz="621" dirty="0"/>
          </a:p>
        </p:txBody>
      </p:sp>
      <p:sp>
        <p:nvSpPr>
          <p:cNvPr id="35" name="Shape 12"/>
          <p:cNvSpPr/>
          <p:nvPr/>
        </p:nvSpPr>
        <p:spPr>
          <a:xfrm>
            <a:off x="571571" y="2854350"/>
            <a:ext cx="395558" cy="1857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Text 13"/>
          <p:cNvSpPr/>
          <p:nvPr/>
        </p:nvSpPr>
        <p:spPr>
          <a:xfrm>
            <a:off x="571570" y="2833315"/>
            <a:ext cx="395558" cy="185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err="1" smtClean="0">
                <a:solidFill>
                  <a:srgbClr val="FFFFFF"/>
                </a:solidFill>
              </a:rPr>
              <a:t>Zustand</a:t>
            </a:r>
            <a:endParaRPr lang="en-US" sz="621" dirty="0"/>
          </a:p>
        </p:txBody>
      </p:sp>
      <p:sp>
        <p:nvSpPr>
          <p:cNvPr id="37" name="Shape 17"/>
          <p:cNvSpPr/>
          <p:nvPr/>
        </p:nvSpPr>
        <p:spPr>
          <a:xfrm>
            <a:off x="4732611" y="2878189"/>
            <a:ext cx="880285" cy="1857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8" name="Text 18"/>
          <p:cNvSpPr/>
          <p:nvPr/>
        </p:nvSpPr>
        <p:spPr>
          <a:xfrm>
            <a:off x="4750699" y="2857839"/>
            <a:ext cx="971131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Data Synchronization</a:t>
            </a:r>
            <a:endParaRPr lang="en-US" sz="621" dirty="0"/>
          </a:p>
        </p:txBody>
      </p:sp>
      <p:sp>
        <p:nvSpPr>
          <p:cNvPr id="39" name="Shape 22"/>
          <p:cNvSpPr/>
          <p:nvPr/>
        </p:nvSpPr>
        <p:spPr>
          <a:xfrm>
            <a:off x="572084" y="4451736"/>
            <a:ext cx="611432" cy="1857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0" name="Text 23"/>
          <p:cNvSpPr/>
          <p:nvPr/>
        </p:nvSpPr>
        <p:spPr>
          <a:xfrm>
            <a:off x="564590" y="4431942"/>
            <a:ext cx="594330" cy="185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Data Mapping</a:t>
            </a:r>
            <a:endParaRPr lang="en-US" sz="621" dirty="0"/>
          </a:p>
        </p:txBody>
      </p:sp>
      <p:sp>
        <p:nvSpPr>
          <p:cNvPr id="41" name="Shape 27"/>
          <p:cNvSpPr/>
          <p:nvPr/>
        </p:nvSpPr>
        <p:spPr>
          <a:xfrm>
            <a:off x="4738587" y="4440019"/>
            <a:ext cx="544721" cy="1857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2" name="Text 28"/>
          <p:cNvSpPr/>
          <p:nvPr/>
        </p:nvSpPr>
        <p:spPr>
          <a:xfrm>
            <a:off x="4727854" y="4434208"/>
            <a:ext cx="531812" cy="185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Global State</a:t>
            </a:r>
            <a:endParaRPr lang="en-US" sz="621" dirty="0"/>
          </a:p>
        </p:txBody>
      </p:sp>
      <p:sp>
        <p:nvSpPr>
          <p:cNvPr id="43" name="Shape 12"/>
          <p:cNvSpPr/>
          <p:nvPr/>
        </p:nvSpPr>
        <p:spPr>
          <a:xfrm>
            <a:off x="1050678" y="2853583"/>
            <a:ext cx="395558" cy="1857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4" name="Text 13"/>
          <p:cNvSpPr/>
          <p:nvPr/>
        </p:nvSpPr>
        <p:spPr>
          <a:xfrm>
            <a:off x="1065339" y="2832548"/>
            <a:ext cx="352276" cy="185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Persist</a:t>
            </a:r>
            <a:endParaRPr lang="en-US" sz="621" dirty="0"/>
          </a:p>
        </p:txBody>
      </p:sp>
      <p:sp>
        <p:nvSpPr>
          <p:cNvPr id="45" name="Shape 22"/>
          <p:cNvSpPr/>
          <p:nvPr/>
        </p:nvSpPr>
        <p:spPr>
          <a:xfrm>
            <a:off x="1335916" y="4448765"/>
            <a:ext cx="611432" cy="1857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6" name="Text 23"/>
          <p:cNvSpPr/>
          <p:nvPr/>
        </p:nvSpPr>
        <p:spPr>
          <a:xfrm>
            <a:off x="1328422" y="4428971"/>
            <a:ext cx="627992" cy="185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Status Tracking</a:t>
            </a:r>
            <a:endParaRPr lang="en-US" sz="621" dirty="0"/>
          </a:p>
        </p:txBody>
      </p:sp>
      <p:sp>
        <p:nvSpPr>
          <p:cNvPr id="51" name="Shape 27"/>
          <p:cNvSpPr/>
          <p:nvPr/>
        </p:nvSpPr>
        <p:spPr>
          <a:xfrm>
            <a:off x="5444123" y="4445407"/>
            <a:ext cx="561510" cy="1857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2" name="Text 28"/>
          <p:cNvSpPr/>
          <p:nvPr/>
        </p:nvSpPr>
        <p:spPr>
          <a:xfrm>
            <a:off x="5433389" y="4439596"/>
            <a:ext cx="662985" cy="196977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21" dirty="0" smtClean="0">
                <a:solidFill>
                  <a:srgbClr val="FFFFFF"/>
                </a:solidFill>
              </a:rPr>
              <a:t>Data Handling</a:t>
            </a:r>
            <a:endParaRPr lang="en-US" sz="62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28625" y="428625"/>
            <a:ext cx="828675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57275"/>
            <a:ext cx="82867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3418756" cy="468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-1" dirty="0" smtClea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WIREFRAME/COMMON</a:t>
            </a:r>
            <a:endParaRPr lang="en-US" sz="2436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1184663"/>
            <a:ext cx="2160000" cy="1755197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000" y="1189023"/>
            <a:ext cx="2160000" cy="1750837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48" y="1184663"/>
            <a:ext cx="2160000" cy="1756348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3129742"/>
            <a:ext cx="2160000" cy="1776824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202" y="3129742"/>
            <a:ext cx="2160000" cy="173712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14176" y="2922494"/>
            <a:ext cx="12700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bg1">
                    <a:lumMod val="75000"/>
                  </a:schemeClr>
                </a:solidFill>
              </a:rPr>
              <a:t>Header/footer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371558" y="2933057"/>
            <a:ext cx="5057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bg1">
                    <a:lumMod val="75000"/>
                  </a:schemeClr>
                </a:solidFill>
              </a:rPr>
              <a:t>Home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34933" y="2910892"/>
            <a:ext cx="5161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tost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33021" y="4889934"/>
            <a:ext cx="5161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bg1">
                    <a:lumMod val="75000"/>
                  </a:schemeClr>
                </a:solidFill>
              </a:rPr>
              <a:t>Search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371558" y="4866869"/>
            <a:ext cx="5161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bg1">
                    <a:lumMod val="75000"/>
                  </a:schemeClr>
                </a:solidFill>
              </a:rPr>
              <a:t>Login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48" y="3105730"/>
            <a:ext cx="2160000" cy="174683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361868" y="4852565"/>
            <a:ext cx="6622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bg1">
                    <a:lumMod val="75000"/>
                  </a:schemeClr>
                </a:solidFill>
              </a:rPr>
              <a:t>Register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28625" y="428625"/>
            <a:ext cx="828675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57275"/>
            <a:ext cx="82867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3723070" cy="468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-1" dirty="0" smtClean="0">
                <a:solidFill>
                  <a:srgbClr val="0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WIREFRAME/CATEGORY</a:t>
            </a:r>
            <a:endParaRPr lang="en-US" sz="2436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000" y="1227434"/>
            <a:ext cx="2160000" cy="177318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1223416"/>
            <a:ext cx="2160000" cy="178121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187" y="1223416"/>
            <a:ext cx="2160000" cy="177095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3156487"/>
            <a:ext cx="2160000" cy="1753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0001" y="2941043"/>
            <a:ext cx="13949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bg1">
                    <a:lumMod val="75000"/>
                  </a:schemeClr>
                </a:solidFill>
              </a:rPr>
              <a:t>Category/Filter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41212" y="2990555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bg1">
                    <a:lumMod val="75000"/>
                  </a:schemeClr>
                </a:solidFill>
              </a:rPr>
              <a:t>Category/</a:t>
            </a:r>
            <a:r>
              <a:rPr lang="en-US" altLang="ko-KR" sz="800" dirty="0" err="1">
                <a:solidFill>
                  <a:schemeClr val="bg1">
                    <a:lumMod val="75000"/>
                  </a:schemeClr>
                </a:solidFill>
              </a:rPr>
              <a:t>itemList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01911" y="3013723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bg1">
                    <a:lumMod val="75000"/>
                  </a:schemeClr>
                </a:solidFill>
              </a:rPr>
              <a:t>Category/Collection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16484" y="4867001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bg1">
                    <a:lumMod val="75000"/>
                  </a:schemeClr>
                </a:solidFill>
              </a:rPr>
              <a:t>Category/stories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8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28625" y="428625"/>
            <a:ext cx="828675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57275"/>
            <a:ext cx="82867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4035528" cy="468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-1" dirty="0" smtClean="0">
                <a:solidFill>
                  <a:srgbClr val="0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WIREFRAME/MYACCOUNT</a:t>
            </a:r>
            <a:endParaRPr lang="en-US" sz="2436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1270279"/>
            <a:ext cx="2160000" cy="176389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000" y="1270279"/>
            <a:ext cx="2160000" cy="17408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553" y="1256647"/>
            <a:ext cx="2160000" cy="176811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3182950"/>
            <a:ext cx="2160000" cy="17678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6656" y="2969861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Myaccount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85872" y="2995563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OrderList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42267" y="3014898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WishList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66656" y="4884887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ProfileEdit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71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28625" y="428625"/>
            <a:ext cx="828675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57275"/>
            <a:ext cx="82867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3719864" cy="468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-1" dirty="0" smtClean="0">
                <a:solidFill>
                  <a:srgbClr val="0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WIREFRAME/SHOPPING</a:t>
            </a:r>
            <a:endParaRPr lang="en-US" sz="2436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1223416"/>
            <a:ext cx="2160000" cy="176415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560" y="1223416"/>
            <a:ext cx="2160000" cy="175713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375" y="1215820"/>
            <a:ext cx="2160000" cy="176472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3185305"/>
            <a:ext cx="2160000" cy="17546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69869" y="3531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103835" y="2969861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ProdcutDetail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06928" y="2974302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ShoppingBag</a:t>
            </a:r>
            <a:r>
              <a:rPr lang="en-US" altLang="ko-KR" sz="800" dirty="0" smtClean="0">
                <a:solidFill>
                  <a:schemeClr val="bg1">
                    <a:lumMod val="75000"/>
                  </a:schemeClr>
                </a:solidFill>
              </a:rPr>
              <a:t>/</a:t>
            </a:r>
            <a:r>
              <a:rPr lang="ko-KR" altLang="en-US" sz="800" dirty="0" err="1" smtClean="0">
                <a:solidFill>
                  <a:schemeClr val="bg1">
                    <a:lumMod val="75000"/>
                  </a:schemeClr>
                </a:solidFill>
              </a:rPr>
              <a:t>비었을때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45069" y="2967700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ShoppingBag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86627" y="4922207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bg1">
                    <a:lumMod val="75000"/>
                  </a:schemeClr>
                </a:solidFill>
              </a:rPr>
              <a:t>Order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77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28625" y="428625"/>
            <a:ext cx="828675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57275"/>
            <a:ext cx="82867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3376950" cy="468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-1" dirty="0" smtClean="0">
                <a:solidFill>
                  <a:srgbClr val="0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WIREFRAME/INQUIRY</a:t>
            </a:r>
            <a:endParaRPr lang="en-US" sz="2436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1312268"/>
            <a:ext cx="2160000" cy="177008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000" y="1312268"/>
            <a:ext cx="2160000" cy="17658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6656" y="3107615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InquiryList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30031" y="3107615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InquiryWrite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94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28625" y="428625"/>
            <a:ext cx="8286750" cy="6429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057275"/>
            <a:ext cx="82867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3082254" cy="468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-1" dirty="0" smtClean="0">
                <a:solidFill>
                  <a:srgbClr val="0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WIREFRAME/ADMIN</a:t>
            </a:r>
            <a:endParaRPr lang="en-US" sz="2436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1332575"/>
            <a:ext cx="1440000" cy="117441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120" y="1325806"/>
            <a:ext cx="1440000" cy="117180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615" y="1332575"/>
            <a:ext cx="1440000" cy="116503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110" y="1326556"/>
            <a:ext cx="1440000" cy="118042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605" y="1332575"/>
            <a:ext cx="1440000" cy="117484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2875904"/>
            <a:ext cx="1440000" cy="118468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615" y="2875904"/>
            <a:ext cx="1440000" cy="119547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120" y="2875904"/>
            <a:ext cx="1440000" cy="1179487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110" y="2875904"/>
            <a:ext cx="1440000" cy="11573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4628" y="2507419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AdminLayout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29092" y="2497611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bg1">
                    <a:lumMod val="75000"/>
                  </a:schemeClr>
                </a:solidFill>
              </a:rPr>
              <a:t>Dashboard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29033" y="2471314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UserList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56051" y="2458165"/>
            <a:ext cx="9983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CategoryList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22031" y="2471314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ProductList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9151" y="4110518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ProductCreate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78189" y="4110518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InquiryList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29091" y="4110518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OrderList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96636" y="4110518"/>
            <a:ext cx="14219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solidFill>
                  <a:schemeClr val="bg1">
                    <a:lumMod val="75000"/>
                  </a:schemeClr>
                </a:solidFill>
              </a:rPr>
              <a:t>InquiryDetail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522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5753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568178"/>
            <a:ext cx="9144000" cy="71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832247"/>
            <a:ext cx="65" cy="1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428625" y="1053703"/>
            <a:ext cx="246077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kern="0" spc="-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USER
</a:t>
            </a:r>
            <a:r>
              <a:rPr lang="en-US" sz="2436" b="1" kern="0" spc="-1" dirty="0" smtClea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EXPERIENCE</a:t>
            </a:r>
            <a:endParaRPr lang="en-US" sz="2436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3746646" y="559389"/>
            <a:ext cx="1106072" cy="1937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Brand Experience</a:t>
            </a:r>
            <a:endParaRPr lang="en-US" sz="987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18058" y="830852"/>
            <a:ext cx="5097317" cy="34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단순 구매를 넘어 브랜드의 세계관을 탐험하는 듯한 감각적인 UX 경험을 </a:t>
            </a:r>
            <a:r>
              <a:rPr lang="en-US" sz="834" dirty="0" err="1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제공합니다</a:t>
            </a:r>
            <a:r>
              <a:rPr lang="en-US" sz="834" dirty="0" smtClean="0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.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834" dirty="0" smtClean="0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풀 </a:t>
            </a:r>
            <a:r>
              <a:rPr lang="en-US" sz="834" dirty="0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스크린 영상과 인터랙티브 요소를 통해 브랜드 아이덴티티를 깊이 있게 전달합니다.</a:t>
            </a:r>
            <a:endParaRPr lang="en-US" sz="834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3746646" y="1375172"/>
            <a:ext cx="1594988" cy="1937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Reliability &amp; Convenience</a:t>
            </a:r>
            <a:endParaRPr lang="en-US" sz="987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18058" y="1646634"/>
            <a:ext cx="5097317" cy="339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실시간 데이터 동기화가 적용된 쇼핑백 및 문의 시스템을 </a:t>
            </a:r>
            <a:r>
              <a:rPr lang="en-US" sz="834" dirty="0" err="1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통해</a:t>
            </a:r>
            <a:r>
              <a:rPr lang="en-US" sz="834" dirty="0" smtClean="0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834" dirty="0" err="1" smtClean="0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사용자는</a:t>
            </a:r>
            <a:r>
              <a:rPr lang="en-US" sz="834" dirty="0" smtClean="0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4" dirty="0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끊김 없는 서비스 이용과 </a:t>
            </a:r>
            <a:r>
              <a:rPr lang="en-US" sz="834" dirty="0" err="1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높은</a:t>
            </a:r>
            <a:r>
              <a:rPr lang="en-US" sz="834" dirty="0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4" dirty="0" err="1" smtClean="0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신뢰도</a:t>
            </a:r>
            <a:r>
              <a:rPr lang="ko-KR" altLang="en-US" sz="834" dirty="0" smtClean="0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를</a:t>
            </a:r>
            <a:r>
              <a:rPr lang="en-US" sz="834" dirty="0" smtClean="0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4" dirty="0">
                <a:solidFill>
                  <a:srgbClr val="000000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체감할 수 있습니다.</a:t>
            </a:r>
            <a:endParaRPr lang="en-US" sz="834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3625453"/>
            <a:ext cx="246077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kern="0" spc="-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DEVELOPER
</a:t>
            </a:r>
            <a:r>
              <a:rPr lang="en-US" sz="2436" b="1" kern="0" spc="-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GROWTH</a:t>
            </a:r>
            <a:endParaRPr lang="en-US" sz="2436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746646" y="3131139"/>
            <a:ext cx="1102866" cy="1937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Technical Growth</a:t>
            </a:r>
            <a:endParaRPr lang="en-US" sz="987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618058" y="3402602"/>
            <a:ext cx="5097317" cy="339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복잡한 애니메이션 </a:t>
            </a:r>
            <a:r>
              <a:rPr lang="en-US" sz="834" dirty="0" err="1">
                <a:solidFill>
                  <a:srgbClr val="FFFFFF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최적화와</a:t>
            </a:r>
            <a:r>
              <a:rPr lang="en-US" sz="834" dirty="0">
                <a:solidFill>
                  <a:srgbClr val="FFFFFF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4" dirty="0" err="1" smtClean="0">
                <a:solidFill>
                  <a:srgbClr val="FFFFFF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디자인</a:t>
            </a:r>
            <a:r>
              <a:rPr lang="en-US" sz="834" dirty="0" smtClean="0">
                <a:solidFill>
                  <a:srgbClr val="FFFFFF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4" dirty="0">
                <a:solidFill>
                  <a:srgbClr val="FFFFFF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완성도를 확보하며 프론트엔드 기술력을 강화했습니다. </a:t>
            </a:r>
            <a:endParaRPr lang="en-US" sz="834" dirty="0" smtClean="0">
              <a:solidFill>
                <a:srgbClr val="FFFFFF">
                  <a:alpha val="90000"/>
                </a:srgbClr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834" dirty="0" err="1" smtClean="0">
                <a:solidFill>
                  <a:srgbClr val="FFFFFF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트리</a:t>
            </a:r>
            <a:r>
              <a:rPr lang="en-US" sz="834" dirty="0" smtClean="0">
                <a:solidFill>
                  <a:srgbClr val="FFFFFF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4" dirty="0">
                <a:solidFill>
                  <a:srgbClr val="FFFFFF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구조 데이터 처리 등 심도 있는 로직 구현 경험을 축적했습니다.</a:t>
            </a:r>
            <a:endParaRPr lang="en-US" sz="834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746646" y="3946922"/>
            <a:ext cx="1296830" cy="1937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Domain Architecture</a:t>
            </a:r>
            <a:endParaRPr lang="en-US" sz="987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618058" y="4218384"/>
            <a:ext cx="5097317" cy="339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Zustand를 활용한 전역 상태 관리와 인증 기반 로직을 구축하며, </a:t>
            </a:r>
            <a:endParaRPr lang="en-US" sz="834" dirty="0" smtClean="0">
              <a:solidFill>
                <a:srgbClr val="FFFFFF">
                  <a:alpha val="90000"/>
                </a:srgbClr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834" dirty="0" err="1" smtClean="0">
                <a:solidFill>
                  <a:srgbClr val="FFFFFF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실질적인</a:t>
            </a:r>
            <a:r>
              <a:rPr lang="en-US" sz="834" dirty="0" smtClean="0">
                <a:solidFill>
                  <a:srgbClr val="FFFFFF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sz="834" dirty="0">
                <a:solidFill>
                  <a:srgbClr val="FFFFFF">
                    <a:alpha val="90000"/>
                  </a:srgb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이커머스 도메인의 데이터 흐름과 아키텍처 설계 역량을 향상시켰습니다.</a:t>
            </a:r>
            <a:endParaRPr lang="en-US" sz="834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571500"/>
            <a:ext cx="8286750" cy="5500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114425"/>
            <a:ext cx="828675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752982"/>
            <a:ext cx="2640788" cy="461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kern="0" spc="-2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TECH STACK</a:t>
            </a:r>
            <a:endParaRPr lang="en-US" sz="3294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4065" y="1663783"/>
            <a:ext cx="1964531" cy="200025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kern="0" spc="1" dirty="0">
                <a:solidFill>
                  <a:srgbClr val="666666"/>
                </a:solidFill>
              </a:rPr>
              <a:t>Core Framework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624065" y="1992395"/>
            <a:ext cx="19645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React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624065" y="2278145"/>
            <a:ext cx="19645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v19.0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624065" y="2556751"/>
            <a:ext cx="19645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TypeScript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624065" y="2842501"/>
            <a:ext cx="19645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Strict Mode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624065" y="3121108"/>
            <a:ext cx="19645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Vite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624065" y="3406858"/>
            <a:ext cx="19645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v7.0 (Build Tool)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2731471" y="1663783"/>
            <a:ext cx="1964531" cy="200025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kern="0" spc="1" dirty="0">
                <a:solidFill>
                  <a:srgbClr val="666666"/>
                </a:solidFill>
              </a:rPr>
              <a:t>State &amp; Logic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2731471" y="1992395"/>
            <a:ext cx="19645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Zustand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2731471" y="2278145"/>
            <a:ext cx="19645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v5.0 (Global State)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2731471" y="2556751"/>
            <a:ext cx="19645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React Router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2731471" y="2842501"/>
            <a:ext cx="19645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v7.0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2731471" y="3121108"/>
            <a:ext cx="19645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React Hook Form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2731471" y="3406858"/>
            <a:ext cx="19645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Form Management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4838878" y="1663783"/>
            <a:ext cx="1964531" cy="200025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kern="0" spc="1" dirty="0">
                <a:solidFill>
                  <a:srgbClr val="666666"/>
                </a:solidFill>
              </a:rPr>
              <a:t>Styling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4838878" y="1992395"/>
            <a:ext cx="19645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Tailwind CSS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4838878" y="2278145"/>
            <a:ext cx="19645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v4.0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4838878" y="2556751"/>
            <a:ext cx="19645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Tailwind-merge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4838878" y="2842501"/>
            <a:ext cx="19645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Utility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4838878" y="3121108"/>
            <a:ext cx="19645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Swiper</a:t>
            </a:r>
            <a:endParaRPr lang="en-US" sz="1193" dirty="0"/>
          </a:p>
        </p:txBody>
      </p:sp>
      <p:sp>
        <p:nvSpPr>
          <p:cNvPr id="27" name="Text 24"/>
          <p:cNvSpPr/>
          <p:nvPr/>
        </p:nvSpPr>
        <p:spPr>
          <a:xfrm>
            <a:off x="4838878" y="3406858"/>
            <a:ext cx="19645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UI Component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6946284" y="1663783"/>
            <a:ext cx="1964531" cy="200025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kern="0" spc="1" dirty="0">
                <a:solidFill>
                  <a:srgbClr val="666666"/>
                </a:solidFill>
              </a:rPr>
              <a:t>Tools &amp; Utils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6946284" y="1992395"/>
            <a:ext cx="19645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Axios</a:t>
            </a:r>
            <a:endParaRPr lang="en-US" sz="1193" dirty="0"/>
          </a:p>
        </p:txBody>
      </p:sp>
      <p:sp>
        <p:nvSpPr>
          <p:cNvPr id="30" name="Text 27"/>
          <p:cNvSpPr/>
          <p:nvPr/>
        </p:nvSpPr>
        <p:spPr>
          <a:xfrm>
            <a:off x="6946284" y="2278145"/>
            <a:ext cx="19645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API Client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6946284" y="2556751"/>
            <a:ext cx="19645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ESLint / Prettier</a:t>
            </a:r>
            <a:endParaRPr lang="en-US" sz="1193" dirty="0"/>
          </a:p>
        </p:txBody>
      </p:sp>
      <p:sp>
        <p:nvSpPr>
          <p:cNvPr id="32" name="Text 29"/>
          <p:cNvSpPr/>
          <p:nvPr/>
        </p:nvSpPr>
        <p:spPr>
          <a:xfrm>
            <a:off x="6946284" y="2842501"/>
            <a:ext cx="19645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Linting &amp; Formatting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6946284" y="3121108"/>
            <a:ext cx="19645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Daum Postcode</a:t>
            </a:r>
            <a:endParaRPr lang="en-US" sz="1193" dirty="0"/>
          </a:p>
        </p:txBody>
      </p:sp>
      <p:sp>
        <p:nvSpPr>
          <p:cNvPr id="34" name="Text 31"/>
          <p:cNvSpPr/>
          <p:nvPr/>
        </p:nvSpPr>
        <p:spPr>
          <a:xfrm>
            <a:off x="6946284" y="3406858"/>
            <a:ext cx="19645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Address API</a:t>
            </a:r>
            <a:endParaRPr lang="en-US" sz="727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8195" y="1059859"/>
            <a:ext cx="3647610" cy="194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7600"/>
              </a:lnSpc>
              <a:buNone/>
            </a:pPr>
            <a:r>
              <a:rPr lang="en-US" sz="7773" b="1" kern="0" spc="-5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THANK
YOU</a:t>
            </a:r>
            <a:endParaRPr lang="en-US" sz="7773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3629416" y="3906236"/>
            <a:ext cx="1885169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Portfolio Project by </a:t>
            </a:r>
            <a:r>
              <a:rPr lang="en-US" sz="784" b="1" dirty="0">
                <a:solidFill>
                  <a:srgbClr val="FFFFFF"/>
                </a:solidFill>
              </a:rPr>
              <a:t>Kim Seung-min</a:t>
            </a:r>
            <a:r>
              <a:rPr lang="en-US" sz="834" dirty="0">
                <a:solidFill>
                  <a:srgbClr val="888888"/>
                </a:solidFill>
              </a:rPr>
              <a:t>
</a:t>
            </a:r>
            <a:r>
              <a:rPr lang="en-US" sz="834" dirty="0" smtClean="0">
                <a:solidFill>
                  <a:srgbClr val="888888"/>
                </a:solidFill>
              </a:rPr>
              <a:t>2026</a:t>
            </a:r>
            <a:endParaRPr lang="en-US" sz="834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592</Words>
  <Application>Microsoft Office PowerPoint</Application>
  <PresentationFormat>화면 슬라이드 쇼(16:9)</PresentationFormat>
  <Paragraphs>201</Paragraphs>
  <Slides>15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8" baseType="lpstr">
      <vt:lpstr>Inter Bold</vt:lpstr>
      <vt:lpstr>Kozuka Gothic Pro B</vt:lpstr>
      <vt:lpstr>Noto Sans KR</vt:lpstr>
      <vt:lpstr>Noto Sans KR Black</vt:lpstr>
      <vt:lpstr>Noto Sans KR DemiLight</vt:lpstr>
      <vt:lpstr>Noto Sans KR Light</vt:lpstr>
      <vt:lpstr>Noto Sans KR Medium</vt:lpstr>
      <vt:lpstr>맑은 고딕</vt:lpstr>
      <vt:lpstr>맑은 고딕 Semilight</vt:lpstr>
      <vt:lpstr>Arial</vt:lpstr>
      <vt:lpstr>Calibri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LINE</cp:lastModifiedBy>
  <cp:revision>33</cp:revision>
  <dcterms:created xsi:type="dcterms:W3CDTF">2026-02-13T02:18:34Z</dcterms:created>
  <dcterms:modified xsi:type="dcterms:W3CDTF">2026-02-13T07:21:18Z</dcterms:modified>
</cp:coreProperties>
</file>